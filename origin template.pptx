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dara" panose="020E0502030303020204" pitchFamily="34" charset="0"/>
      <p:regular r:id="rId11"/>
      <p:bold r:id="rId12"/>
      <p:italic r:id="rId13"/>
      <p:boldItalic r:id="rId14"/>
    </p:embeddedFont>
    <p:embeddedFont>
      <p:font typeface="Cinzel" panose="020B0604020202020204" charset="0"/>
      <p:regular r:id="rId15"/>
    </p:embeddedFont>
    <p:embeddedFont>
      <p:font typeface="Cinzel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EC006-0434-4CF3-BBDD-0097015D393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77CE9-26E7-4C01-9B1D-074B88CA2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71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77CE9-26E7-4C01-9B1D-074B88CA24A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3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Stay Mellow.     mm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08E8A-BAFF-8205-378B-B2FD575FA68C}"/>
              </a:ext>
            </a:extLst>
          </p:cNvPr>
          <p:cNvSpPr txBox="1"/>
          <p:nvPr/>
        </p:nvSpPr>
        <p:spPr>
          <a:xfrm>
            <a:off x="6324600" y="1409700"/>
            <a:ext cx="624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i="1" dirty="0">
                <a:solidFill>
                  <a:schemeClr val="bg1"/>
                </a:solidFill>
              </a:rPr>
              <a:t>   </a:t>
            </a:r>
            <a:r>
              <a:rPr lang="en-US" sz="9600" b="1" i="1" dirty="0">
                <a:solidFill>
                  <a:schemeClr val="bg1"/>
                </a:solidFill>
              </a:rPr>
              <a:t>MELLOW</a:t>
            </a:r>
            <a:endParaRPr lang="en-IN" sz="9600" b="1" i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82B56-9AE1-D7A0-E4AA-601565A05C45}"/>
              </a:ext>
            </a:extLst>
          </p:cNvPr>
          <p:cNvSpPr txBox="1"/>
          <p:nvPr/>
        </p:nvSpPr>
        <p:spPr>
          <a:xfrm>
            <a:off x="5562600" y="3009899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       Think Better &amp; Stay Mellow</a:t>
            </a:r>
            <a:endParaRPr lang="en-IN" sz="32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D3ED3-CA17-5B7B-56C8-20581C7B46A5}"/>
              </a:ext>
            </a:extLst>
          </p:cNvPr>
          <p:cNvSpPr txBox="1"/>
          <p:nvPr/>
        </p:nvSpPr>
        <p:spPr>
          <a:xfrm>
            <a:off x="838200" y="6692327"/>
            <a:ext cx="68580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solidFill>
                  <a:schemeClr val="bg1"/>
                </a:solidFill>
              </a:rPr>
              <a:t>Team </a:t>
            </a:r>
            <a:r>
              <a:rPr lang="en-US" sz="4400" b="1" i="1" dirty="0" err="1">
                <a:solidFill>
                  <a:schemeClr val="bg1"/>
                </a:solidFill>
              </a:rPr>
              <a:t>IronEagle</a:t>
            </a:r>
            <a:endParaRPr lang="en-US" sz="4400" b="1" i="1" dirty="0">
              <a:solidFill>
                <a:schemeClr val="bg1"/>
              </a:solidFill>
            </a:endParaRPr>
          </a:p>
          <a:p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Thejasree</a:t>
            </a:r>
            <a:endParaRPr lang="en-US" sz="3200" b="1" i="1" dirty="0">
              <a:solidFill>
                <a:schemeClr val="bg1"/>
              </a:solidFill>
            </a:endParaRPr>
          </a:p>
          <a:p>
            <a:r>
              <a:rPr lang="en-IN" sz="3200" b="1" i="1" dirty="0">
                <a:solidFill>
                  <a:schemeClr val="bg1"/>
                </a:solidFill>
              </a:rPr>
              <a:t>  Ragul </a:t>
            </a:r>
          </a:p>
          <a:p>
            <a:r>
              <a:rPr lang="en-IN" sz="3200" b="1" i="1" dirty="0">
                <a:solidFill>
                  <a:schemeClr val="bg1"/>
                </a:solidFill>
              </a:rPr>
              <a:t>  Varsha</a:t>
            </a:r>
          </a:p>
          <a:p>
            <a:r>
              <a:rPr lang="en-IN" sz="3200" b="1" i="1" dirty="0">
                <a:solidFill>
                  <a:schemeClr val="bg1"/>
                </a:solidFill>
              </a:rPr>
              <a:t>  Arjun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9265" y="259152"/>
            <a:ext cx="1382345" cy="1797477"/>
          </a:xfrm>
          <a:custGeom>
            <a:avLst/>
            <a:gdLst/>
            <a:ahLst/>
            <a:cxnLst/>
            <a:rect l="l" t="t" r="r" b="b"/>
            <a:pathLst>
              <a:path w="1382345" h="1797477">
                <a:moveTo>
                  <a:pt x="0" y="0"/>
                </a:moveTo>
                <a:lnTo>
                  <a:pt x="1382345" y="0"/>
                </a:lnTo>
                <a:lnTo>
                  <a:pt x="1382345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607" t="-96605" r="-411312" b="-11968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12916" y="259152"/>
            <a:ext cx="1492768" cy="1797477"/>
          </a:xfrm>
          <a:custGeom>
            <a:avLst/>
            <a:gdLst/>
            <a:ahLst/>
            <a:cxnLst/>
            <a:rect l="l" t="t" r="r" b="b"/>
            <a:pathLst>
              <a:path w="1492768" h="1797477">
                <a:moveTo>
                  <a:pt x="0" y="0"/>
                </a:moveTo>
                <a:lnTo>
                  <a:pt x="1492768" y="0"/>
                </a:lnTo>
                <a:lnTo>
                  <a:pt x="1492768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4804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824162" y="2283488"/>
            <a:ext cx="12639675" cy="2112236"/>
            <a:chOff x="0" y="180975"/>
            <a:chExt cx="16852900" cy="2816314"/>
          </a:xfrm>
        </p:grpSpPr>
        <p:sp>
          <p:nvSpPr>
            <p:cNvPr id="6" name="TextBox 6"/>
            <p:cNvSpPr txBox="1"/>
            <p:nvPr/>
          </p:nvSpPr>
          <p:spPr>
            <a:xfrm>
              <a:off x="0" y="180975"/>
              <a:ext cx="168529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600"/>
                </a:lnSpc>
              </a:pPr>
              <a:r>
                <a:rPr lang="en-US" sz="9600" spc="-192">
                  <a:solidFill>
                    <a:srgbClr val="FFFFFF"/>
                  </a:solidFill>
                  <a:latin typeface="Cinzel"/>
                  <a:ea typeface="Cinzel"/>
                  <a:cs typeface="Cinzel"/>
                  <a:sym typeface="Cinzel"/>
                </a:rPr>
                <a:t>Problem Statement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97125"/>
              <a:ext cx="16852900" cy="6001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3200" b="1" i="1" u="none" strike="noStrike" dirty="0">
                  <a:solidFill>
                    <a:srgbClr val="FFFFFF"/>
                  </a:solidFill>
                  <a:latin typeface="Cinzel"/>
                  <a:ea typeface="Cinzel"/>
                  <a:cs typeface="Cinzel"/>
                  <a:sym typeface="Cinzel"/>
                </a:rPr>
                <a:t>Identifying Key Challenges We Face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7D56FB9-7846-354D-71C4-D0A2AE74B5A4}"/>
              </a:ext>
            </a:extLst>
          </p:cNvPr>
          <p:cNvSpPr txBox="1"/>
          <p:nvPr/>
        </p:nvSpPr>
        <p:spPr>
          <a:xfrm>
            <a:off x="4495800" y="4914900"/>
            <a:ext cx="1173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          •   Passive learning in online classes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          •   Students memorize, don’t  understand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          •   No feedback on thinking mistakes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23" y="-368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9265" y="259152"/>
            <a:ext cx="1382345" cy="1797477"/>
          </a:xfrm>
          <a:custGeom>
            <a:avLst/>
            <a:gdLst/>
            <a:ahLst/>
            <a:cxnLst/>
            <a:rect l="l" t="t" r="r" b="b"/>
            <a:pathLst>
              <a:path w="1382345" h="1797477">
                <a:moveTo>
                  <a:pt x="0" y="0"/>
                </a:moveTo>
                <a:lnTo>
                  <a:pt x="1382345" y="0"/>
                </a:lnTo>
                <a:lnTo>
                  <a:pt x="1382345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607" t="-96605" r="-411312" b="-11968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12916" y="259152"/>
            <a:ext cx="1492768" cy="1797477"/>
          </a:xfrm>
          <a:custGeom>
            <a:avLst/>
            <a:gdLst/>
            <a:ahLst/>
            <a:cxnLst/>
            <a:rect l="l" t="t" r="r" b="b"/>
            <a:pathLst>
              <a:path w="1492768" h="1797477">
                <a:moveTo>
                  <a:pt x="0" y="0"/>
                </a:moveTo>
                <a:lnTo>
                  <a:pt x="1492768" y="0"/>
                </a:lnTo>
                <a:lnTo>
                  <a:pt x="1492768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4804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20917" y="3048433"/>
            <a:ext cx="15846166" cy="1943788"/>
            <a:chOff x="0" y="180975"/>
            <a:chExt cx="21128221" cy="2591718"/>
          </a:xfrm>
        </p:grpSpPr>
        <p:sp>
          <p:nvSpPr>
            <p:cNvPr id="6" name="TextBox 6"/>
            <p:cNvSpPr txBox="1"/>
            <p:nvPr/>
          </p:nvSpPr>
          <p:spPr>
            <a:xfrm>
              <a:off x="0" y="180975"/>
              <a:ext cx="21128221" cy="1642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972"/>
                </a:lnSpc>
              </a:pPr>
              <a:r>
                <a:rPr lang="en-US" sz="8972" spc="-179">
                  <a:solidFill>
                    <a:srgbClr val="FFFFFF"/>
                  </a:solidFill>
                  <a:latin typeface="Cinzel"/>
                  <a:ea typeface="Cinzel"/>
                  <a:cs typeface="Cinzel"/>
                  <a:sym typeface="Cinzel"/>
                </a:rPr>
                <a:t>Proposed Solution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31520"/>
              <a:ext cx="21128221" cy="541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40"/>
                </a:lnSpc>
              </a:pPr>
              <a:r>
                <a:rPr lang="en-US" sz="2800" u="none" strike="noStrike" dirty="0">
                  <a:solidFill>
                    <a:srgbClr val="FFFFFF"/>
                  </a:solidFill>
                  <a:latin typeface="Cinzel"/>
                  <a:ea typeface="Cinzel"/>
                  <a:cs typeface="Cinzel"/>
                  <a:sym typeface="Cinzel"/>
                </a:rPr>
                <a:t>A Path to Innovation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FCECBCC-765B-AA1E-1A44-69F3FCECEF4E}"/>
              </a:ext>
            </a:extLst>
          </p:cNvPr>
          <p:cNvSpPr txBox="1"/>
          <p:nvPr/>
        </p:nvSpPr>
        <p:spPr>
          <a:xfrm>
            <a:off x="6248400" y="6286500"/>
            <a:ext cx="967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	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•	Generates notes	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•	Challenges your understanding	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•	Improves reasoning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7192D-0FDC-85FB-5843-CA23C5EF54F9}"/>
              </a:ext>
            </a:extLst>
          </p:cNvPr>
          <p:cNvSpPr txBox="1"/>
          <p:nvPr/>
        </p:nvSpPr>
        <p:spPr>
          <a:xfrm>
            <a:off x="5029200" y="5308957"/>
            <a:ext cx="1089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         </a:t>
            </a:r>
            <a:r>
              <a:rPr lang="en-US" sz="4000" i="1" dirty="0">
                <a:solidFill>
                  <a:schemeClr val="bg1"/>
                </a:solidFill>
              </a:rPr>
              <a:t>AI twin that trains how you think</a:t>
            </a:r>
            <a:endParaRPr lang="en-IN" sz="40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41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9265" y="259152"/>
            <a:ext cx="1382345" cy="1797477"/>
          </a:xfrm>
          <a:custGeom>
            <a:avLst/>
            <a:gdLst/>
            <a:ahLst/>
            <a:cxnLst/>
            <a:rect l="l" t="t" r="r" b="b"/>
            <a:pathLst>
              <a:path w="1382345" h="1797477">
                <a:moveTo>
                  <a:pt x="0" y="0"/>
                </a:moveTo>
                <a:lnTo>
                  <a:pt x="1382345" y="0"/>
                </a:lnTo>
                <a:lnTo>
                  <a:pt x="1382345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607" t="-96605" r="-411312" b="-11968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12916" y="259152"/>
            <a:ext cx="1492768" cy="1797477"/>
          </a:xfrm>
          <a:custGeom>
            <a:avLst/>
            <a:gdLst/>
            <a:ahLst/>
            <a:cxnLst/>
            <a:rect l="l" t="t" r="r" b="b"/>
            <a:pathLst>
              <a:path w="1492768" h="1797477">
                <a:moveTo>
                  <a:pt x="0" y="0"/>
                </a:moveTo>
                <a:lnTo>
                  <a:pt x="1492768" y="0"/>
                </a:lnTo>
                <a:lnTo>
                  <a:pt x="1492768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34804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18736" y="3143103"/>
            <a:ext cx="16050528" cy="12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</a:pPr>
            <a:r>
              <a:rPr lang="en-US" sz="9100" spc="-182" dirty="0" err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Systeam</a:t>
            </a:r>
            <a:r>
              <a:rPr lang="en-US" sz="9100" spc="-182" dirty="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0E910-8D0B-D790-B4B4-F5389F633CC2}"/>
              </a:ext>
            </a:extLst>
          </p:cNvPr>
          <p:cNvSpPr txBox="1"/>
          <p:nvPr/>
        </p:nvSpPr>
        <p:spPr>
          <a:xfrm>
            <a:off x="7239000" y="5147187"/>
            <a:ext cx="86499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4000" b="1" dirty="0">
                <a:solidFill>
                  <a:schemeClr val="bg1"/>
                </a:solidFill>
              </a:rPr>
              <a:t>AI creates notes	</a:t>
            </a:r>
          </a:p>
          <a:p>
            <a:pPr marL="457200" indent="-457200">
              <a:buAutoNum type="arabicPeriod" startAt="2"/>
            </a:pPr>
            <a:r>
              <a:rPr lang="en-US" sz="4000" b="1" dirty="0">
                <a:solidFill>
                  <a:schemeClr val="bg1"/>
                </a:solidFill>
              </a:rPr>
              <a:t>You explain	</a:t>
            </a:r>
          </a:p>
          <a:p>
            <a:pPr marL="457200" indent="-457200">
              <a:buAutoNum type="arabicPeriod" startAt="2"/>
            </a:pPr>
            <a:r>
              <a:rPr lang="en-US" sz="4000" b="1" dirty="0">
                <a:solidFill>
                  <a:schemeClr val="bg1"/>
                </a:solidFill>
              </a:rPr>
              <a:t>AI finds mistakes	</a:t>
            </a:r>
          </a:p>
          <a:p>
            <a:pPr marL="457200" indent="-457200">
              <a:buAutoNum type="arabicPeriod" startAt="2"/>
            </a:pPr>
            <a:r>
              <a:rPr lang="en-US" sz="4000" b="1" dirty="0">
                <a:solidFill>
                  <a:schemeClr val="bg1"/>
                </a:solidFill>
              </a:rPr>
              <a:t>Debate Mode	</a:t>
            </a:r>
          </a:p>
          <a:p>
            <a:pPr marL="457200" indent="-457200">
              <a:buAutoNum type="arabicPeriod" startAt="2"/>
            </a:pPr>
            <a:r>
              <a:rPr lang="en-US" sz="4000" b="1" dirty="0">
                <a:solidFill>
                  <a:schemeClr val="bg1"/>
                </a:solidFill>
              </a:rPr>
              <a:t>Thinking Score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06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9265" y="259152"/>
            <a:ext cx="1382345" cy="1797477"/>
          </a:xfrm>
          <a:custGeom>
            <a:avLst/>
            <a:gdLst/>
            <a:ahLst/>
            <a:cxnLst/>
            <a:rect l="l" t="t" r="r" b="b"/>
            <a:pathLst>
              <a:path w="1382345" h="1797477">
                <a:moveTo>
                  <a:pt x="0" y="0"/>
                </a:moveTo>
                <a:lnTo>
                  <a:pt x="1382345" y="0"/>
                </a:lnTo>
                <a:lnTo>
                  <a:pt x="1382345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607" t="-96605" r="-411312" b="-11968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12916" y="259152"/>
            <a:ext cx="1492768" cy="1797477"/>
          </a:xfrm>
          <a:custGeom>
            <a:avLst/>
            <a:gdLst/>
            <a:ahLst/>
            <a:cxnLst/>
            <a:rect l="l" t="t" r="r" b="b"/>
            <a:pathLst>
              <a:path w="1492768" h="1797477">
                <a:moveTo>
                  <a:pt x="0" y="0"/>
                </a:moveTo>
                <a:lnTo>
                  <a:pt x="1492768" y="0"/>
                </a:lnTo>
                <a:lnTo>
                  <a:pt x="1492768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4804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963603" y="2980422"/>
            <a:ext cx="6360795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0"/>
              </a:lnSpc>
              <a:spcBef>
                <a:spcPct val="0"/>
              </a:spcBef>
            </a:pPr>
            <a:endParaRPr lang="en-US" sz="9000" spc="-495" dirty="0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348BC-D83F-255A-0204-4D455CF66535}"/>
              </a:ext>
            </a:extLst>
          </p:cNvPr>
          <p:cNvSpPr txBox="1"/>
          <p:nvPr/>
        </p:nvSpPr>
        <p:spPr>
          <a:xfrm>
            <a:off x="4724400" y="2628900"/>
            <a:ext cx="10744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         </a:t>
            </a:r>
            <a:r>
              <a:rPr lang="en-US" sz="6000" b="1" dirty="0">
                <a:solidFill>
                  <a:schemeClr val="bg1"/>
                </a:solidFill>
              </a:rPr>
              <a:t>Key Features ( keep it tight)</a:t>
            </a:r>
            <a:endParaRPr lang="en-IN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31CDE-5E2D-2380-314D-49CC7CBE3E89}"/>
              </a:ext>
            </a:extLst>
          </p:cNvPr>
          <p:cNvSpPr txBox="1"/>
          <p:nvPr/>
        </p:nvSpPr>
        <p:spPr>
          <a:xfrm>
            <a:off x="7239000" y="4152900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      </a:t>
            </a:r>
            <a:r>
              <a:rPr lang="en-US" b="1" dirty="0">
                <a:solidFill>
                  <a:schemeClr val="bg1"/>
                </a:solidFill>
              </a:rPr>
              <a:t>     </a:t>
            </a:r>
            <a:r>
              <a:rPr lang="en-US" sz="4000" b="1" dirty="0">
                <a:solidFill>
                  <a:schemeClr val="bg1"/>
                </a:solidFill>
              </a:rPr>
              <a:t>1. AI Twin</a:t>
            </a:r>
          </a:p>
          <a:p>
            <a:r>
              <a:rPr lang="en-IN" sz="4000" b="1" dirty="0">
                <a:solidFill>
                  <a:schemeClr val="bg1"/>
                </a:solidFill>
              </a:rPr>
              <a:t>     2. Smart Notes</a:t>
            </a:r>
          </a:p>
          <a:p>
            <a:r>
              <a:rPr lang="en-IN" sz="4000" b="1" dirty="0">
                <a:solidFill>
                  <a:schemeClr val="bg1"/>
                </a:solidFill>
              </a:rPr>
              <a:t>     3. Explain Black</a:t>
            </a:r>
          </a:p>
          <a:p>
            <a:r>
              <a:rPr lang="en-IN" sz="4000" b="1" dirty="0">
                <a:solidFill>
                  <a:schemeClr val="bg1"/>
                </a:solidFill>
              </a:rPr>
              <a:t>     4. Debate Mode</a:t>
            </a:r>
          </a:p>
          <a:p>
            <a:r>
              <a:rPr lang="en-IN" sz="4000" b="1" dirty="0">
                <a:solidFill>
                  <a:schemeClr val="bg1"/>
                </a:solidFill>
              </a:rPr>
              <a:t>     5. Thinking Score 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39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9265" y="259152"/>
            <a:ext cx="1382345" cy="1797477"/>
          </a:xfrm>
          <a:custGeom>
            <a:avLst/>
            <a:gdLst/>
            <a:ahLst/>
            <a:cxnLst/>
            <a:rect l="l" t="t" r="r" b="b"/>
            <a:pathLst>
              <a:path w="1382345" h="1797477">
                <a:moveTo>
                  <a:pt x="0" y="0"/>
                </a:moveTo>
                <a:lnTo>
                  <a:pt x="1382345" y="0"/>
                </a:lnTo>
                <a:lnTo>
                  <a:pt x="1382345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607" t="-96605" r="-411312" b="-11968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12916" y="259152"/>
            <a:ext cx="1492768" cy="1797477"/>
          </a:xfrm>
          <a:custGeom>
            <a:avLst/>
            <a:gdLst/>
            <a:ahLst/>
            <a:cxnLst/>
            <a:rect l="l" t="t" r="r" b="b"/>
            <a:pathLst>
              <a:path w="1492768" h="1797477">
                <a:moveTo>
                  <a:pt x="0" y="0"/>
                </a:moveTo>
                <a:lnTo>
                  <a:pt x="1492768" y="0"/>
                </a:lnTo>
                <a:lnTo>
                  <a:pt x="1492768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48045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AB666-61E5-7D96-F67B-97406B7AC890}"/>
              </a:ext>
            </a:extLst>
          </p:cNvPr>
          <p:cNvSpPr txBox="1"/>
          <p:nvPr/>
        </p:nvSpPr>
        <p:spPr>
          <a:xfrm>
            <a:off x="3947652" y="2628900"/>
            <a:ext cx="1112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1" dirty="0">
                <a:solidFill>
                  <a:schemeClr val="bg1"/>
                </a:solidFill>
              </a:rPr>
              <a:t>          What makes it different ?</a:t>
            </a:r>
            <a:endParaRPr lang="en-IN" sz="6000" b="1" i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50ABA-0024-3AAA-DE29-373180E2172C}"/>
              </a:ext>
            </a:extLst>
          </p:cNvPr>
          <p:cNvSpPr txBox="1"/>
          <p:nvPr/>
        </p:nvSpPr>
        <p:spPr>
          <a:xfrm>
            <a:off x="4572000" y="4610100"/>
            <a:ext cx="1112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dirty="0">
                <a:solidFill>
                  <a:schemeClr val="bg1"/>
                </a:solidFill>
              </a:rPr>
              <a:t>          •	 Focus on thinking, not answers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	  •	 Active + debate-based learning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	  •	 Personalized feedback</a:t>
            </a:r>
            <a:endParaRPr lang="en-IN" sz="40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9265" y="259152"/>
            <a:ext cx="1382345" cy="1797477"/>
          </a:xfrm>
          <a:custGeom>
            <a:avLst/>
            <a:gdLst/>
            <a:ahLst/>
            <a:cxnLst/>
            <a:rect l="l" t="t" r="r" b="b"/>
            <a:pathLst>
              <a:path w="1382345" h="1797477">
                <a:moveTo>
                  <a:pt x="0" y="0"/>
                </a:moveTo>
                <a:lnTo>
                  <a:pt x="1382345" y="0"/>
                </a:lnTo>
                <a:lnTo>
                  <a:pt x="1382345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607" t="-96605" r="-411312" b="-11968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12916" y="259152"/>
            <a:ext cx="1492768" cy="1797477"/>
          </a:xfrm>
          <a:custGeom>
            <a:avLst/>
            <a:gdLst/>
            <a:ahLst/>
            <a:cxnLst/>
            <a:rect l="l" t="t" r="r" b="b"/>
            <a:pathLst>
              <a:path w="1492768" h="1797477">
                <a:moveTo>
                  <a:pt x="0" y="0"/>
                </a:moveTo>
                <a:lnTo>
                  <a:pt x="1492768" y="0"/>
                </a:lnTo>
                <a:lnTo>
                  <a:pt x="1492768" y="1797477"/>
                </a:lnTo>
                <a:lnTo>
                  <a:pt x="0" y="179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4804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81600" y="2056629"/>
            <a:ext cx="7727454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10"/>
              </a:lnSpc>
              <a:spcBef>
                <a:spcPct val="0"/>
              </a:spcBef>
            </a:pPr>
            <a:r>
              <a:rPr lang="en-US" sz="9000" b="1" i="1" spc="-495" dirty="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CONCLUSION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D155C-7159-0921-C31D-66BE053BA691}"/>
              </a:ext>
            </a:extLst>
          </p:cNvPr>
          <p:cNvSpPr txBox="1"/>
          <p:nvPr/>
        </p:nvSpPr>
        <p:spPr>
          <a:xfrm>
            <a:off x="5638800" y="4414035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</a:rPr>
              <a:t>“We don’t just help students study. We train them to think.”</a:t>
            </a:r>
            <a:endParaRPr lang="en-IN" sz="36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618657" y="4133850"/>
            <a:ext cx="15050686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0"/>
              </a:lnSpc>
            </a:pPr>
            <a:r>
              <a:rPr lang="en-US" sz="15000" b="1" dirty="0">
                <a:solidFill>
                  <a:srgbClr val="FFFFFF"/>
                </a:solidFill>
                <a:latin typeface="Cinzel Bold"/>
                <a:ea typeface="Cinzel Bold"/>
                <a:cs typeface="Cinzel Bold"/>
                <a:sym typeface="Cinzel Bold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B4EF9-CC6C-B580-B64F-BDF28F2EA0BC}"/>
              </a:ext>
            </a:extLst>
          </p:cNvPr>
          <p:cNvSpPr txBox="1"/>
          <p:nvPr/>
        </p:nvSpPr>
        <p:spPr>
          <a:xfrm>
            <a:off x="9753600" y="6819900"/>
            <a:ext cx="815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solidFill>
                  <a:schemeClr val="bg1"/>
                </a:solidFill>
              </a:rPr>
              <a:t>                                  By </a:t>
            </a:r>
            <a:r>
              <a:rPr lang="en-US" sz="4400" b="1" i="1" dirty="0" err="1">
                <a:solidFill>
                  <a:schemeClr val="bg1"/>
                </a:solidFill>
              </a:rPr>
              <a:t>IronEagle</a:t>
            </a:r>
            <a:endParaRPr lang="en-IN" sz="44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187</Words>
  <Application>Microsoft Office PowerPoint</Application>
  <PresentationFormat>Custom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Cinzel Bold</vt:lpstr>
      <vt:lpstr>Candara</vt:lpstr>
      <vt:lpstr>Aptos</vt:lpstr>
      <vt:lpstr>Cinzel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Creative Outer Space Presentation</dc:title>
  <cp:lastModifiedBy>Ragul S</cp:lastModifiedBy>
  <cp:revision>2</cp:revision>
  <dcterms:created xsi:type="dcterms:W3CDTF">2006-08-16T00:00:00Z</dcterms:created>
  <dcterms:modified xsi:type="dcterms:W3CDTF">2026-03-20T16:07:20Z</dcterms:modified>
  <dc:identifier>DAHAznCxTbs</dc:identifier>
</cp:coreProperties>
</file>